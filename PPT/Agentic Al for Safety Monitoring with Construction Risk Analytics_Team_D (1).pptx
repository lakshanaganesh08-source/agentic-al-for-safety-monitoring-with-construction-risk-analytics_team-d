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6241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3E962-A094-6F1D-0116-4BEAAEB77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2AF11-7F36-FEE4-1131-20739806C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C7F39-B525-B2E5-8466-DD793AD70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3FF10-E354-DE64-946A-DC5510647B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4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2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image" Target="../media/image8.png"/><Relationship Id="rId4" Type="http://schemas.openxmlformats.org/officeDocument/2006/relationships/image" Target="../media/image16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10.png"/><Relationship Id="rId5" Type="http://schemas.openxmlformats.org/officeDocument/2006/relationships/image" Target="../media/image26.png"/><Relationship Id="rId10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-457200"/>
            <a:ext cx="2194560" cy="219456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4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525781"/>
            <a:ext cx="8641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Al for Safety Monitoring with Construction Risk Analytics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59536" y="3063240"/>
            <a:ext cx="2377440" cy="4114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32415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- 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51434" y="3607670"/>
            <a:ext cx="248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Lakshana G S</a:t>
            </a:r>
          </a:p>
        </p:txBody>
      </p:sp>
      <p:sp>
        <p:nvSpPr>
          <p:cNvPr id="12" name="Text 10"/>
          <p:cNvSpPr/>
          <p:nvPr/>
        </p:nvSpPr>
        <p:spPr>
          <a:xfrm>
            <a:off x="859536" y="6073913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 Project — Final Presentation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464040" y="470916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/home/claude/ciq/icons/build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897" y="4935017"/>
            <a:ext cx="1285646" cy="128564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0561320" y="5349240"/>
            <a:ext cx="1051560" cy="10515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/home/claude/ciq/icons/robo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023" y="5485943"/>
            <a:ext cx="778154" cy="77815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573C42A7-52E5-2E5A-B4BD-54773053DEA3}"/>
              </a:ext>
            </a:extLst>
          </p:cNvPr>
          <p:cNvSpPr/>
          <p:nvPr/>
        </p:nvSpPr>
        <p:spPr>
          <a:xfrm>
            <a:off x="1150014" y="3935987"/>
            <a:ext cx="248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Anagha Rakshe</a:t>
            </a: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F25740FA-E070-0EDE-9E4F-DEF7CB9DDC7E}"/>
              </a:ext>
            </a:extLst>
          </p:cNvPr>
          <p:cNvSpPr/>
          <p:nvPr/>
        </p:nvSpPr>
        <p:spPr>
          <a:xfrm>
            <a:off x="1148594" y="4284726"/>
            <a:ext cx="248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Sunakam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Chandra</a:t>
            </a: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87B80E1B-6066-A132-50DF-F462F6D98791}"/>
              </a:ext>
            </a:extLst>
          </p:cNvPr>
          <p:cNvSpPr/>
          <p:nvPr/>
        </p:nvSpPr>
        <p:spPr>
          <a:xfrm>
            <a:off x="1147174" y="4604766"/>
            <a:ext cx="248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Priyadharshini S</a:t>
            </a: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9A71A62F-E5D0-7078-ACEA-87E8D7092B1B}"/>
              </a:ext>
            </a:extLst>
          </p:cNvPr>
          <p:cNvSpPr/>
          <p:nvPr/>
        </p:nvSpPr>
        <p:spPr>
          <a:xfrm>
            <a:off x="1145754" y="4961782"/>
            <a:ext cx="248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</a:t>
            </a:r>
            <a:r>
              <a:rPr 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mohith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reddy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05D7084C-35AA-6E44-CD16-8203FC3E852F}"/>
              </a:ext>
            </a:extLst>
          </p:cNvPr>
          <p:cNvSpPr/>
          <p:nvPr/>
        </p:nvSpPr>
        <p:spPr>
          <a:xfrm>
            <a:off x="1732654" y="5697106"/>
            <a:ext cx="248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Rojar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3679C81-3426-C714-1C9E-4EB6B4BDE2A4}"/>
              </a:ext>
            </a:extLst>
          </p:cNvPr>
          <p:cNvSpPr/>
          <p:nvPr/>
        </p:nvSpPr>
        <p:spPr>
          <a:xfrm>
            <a:off x="822960" y="5693449"/>
            <a:ext cx="10768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</a:t>
            </a:r>
            <a:endParaRPr lang="en-US" sz="18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1A1AC09-0214-0357-2154-1F677CB59C26}"/>
              </a:ext>
            </a:extLst>
          </p:cNvPr>
          <p:cNvSpPr/>
          <p:nvPr/>
        </p:nvSpPr>
        <p:spPr>
          <a:xfrm>
            <a:off x="1148594" y="5290099"/>
            <a:ext cx="248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Jayalakshmi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6878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ciq/icons/database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173416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5448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projects generate large amounts of operational data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40030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ciq/icons/userShield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2465680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28600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risks and incidents need continuous monitoring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548640" y="313182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/home/claude/ciq/icons/sync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20" y="3197200"/>
            <a:ext cx="372161" cy="3721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01752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Rework, delays and cost overruns affect project performance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548640" y="386334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/home/claude/ciq/icons/clipboardList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020" y="3928720"/>
            <a:ext cx="372161" cy="37216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74904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estimation and project tracking can be time-consuming</a:t>
            </a:r>
            <a:endParaRPr lang="en-US" sz="1900" dirty="0"/>
          </a:p>
        </p:txBody>
      </p:sp>
      <p:sp>
        <p:nvSpPr>
          <p:cNvPr id="16" name="Shape 10"/>
          <p:cNvSpPr/>
          <p:nvPr/>
        </p:nvSpPr>
        <p:spPr>
          <a:xfrm>
            <a:off x="548640" y="459486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/home/claude/ciq/icons/eye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020" y="4660240"/>
            <a:ext cx="372161" cy="37216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448056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 need a centralized view of project health</a:t>
            </a:r>
            <a:endParaRPr lang="en-US" sz="1900" dirty="0"/>
          </a:p>
        </p:txBody>
      </p:sp>
      <p:sp>
        <p:nvSpPr>
          <p:cNvPr id="19" name="Shape 12"/>
          <p:cNvSpPr/>
          <p:nvPr/>
        </p:nvSpPr>
        <p:spPr>
          <a:xfrm>
            <a:off x="7863840" y="1554480"/>
            <a:ext cx="3794760" cy="2743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/>
          <p:nvPr/>
        </p:nvSpPr>
        <p:spPr>
          <a:xfrm>
            <a:off x="8138160" y="1764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8138160" y="2148840"/>
            <a:ext cx="3291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centralized intelligent platform that combines construction data, analytics, AI assistance, safety monitoring and risk intelligence.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548640" y="5349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6"/>
          <p:cNvSpPr/>
          <p:nvPr/>
        </p:nvSpPr>
        <p:spPr>
          <a:xfrm>
            <a:off x="548640" y="5349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2935224" y="5669280"/>
            <a:ext cx="393192" cy="320040"/>
          </a:xfrm>
          <a:prstGeom prst="right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3383280" y="5349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/>
          <p:nvPr/>
        </p:nvSpPr>
        <p:spPr>
          <a:xfrm>
            <a:off x="3383280" y="5349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700" dirty="0"/>
          </a:p>
        </p:txBody>
      </p:sp>
      <p:sp>
        <p:nvSpPr>
          <p:cNvPr id="27" name="Shape 20"/>
          <p:cNvSpPr/>
          <p:nvPr/>
        </p:nvSpPr>
        <p:spPr>
          <a:xfrm>
            <a:off x="5769864" y="5669280"/>
            <a:ext cx="393192" cy="320040"/>
          </a:xfrm>
          <a:prstGeom prst="right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6217920" y="5349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/>
          <p:nvPr/>
        </p:nvSpPr>
        <p:spPr>
          <a:xfrm>
            <a:off x="6217920" y="5349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700" dirty="0"/>
          </a:p>
        </p:txBody>
      </p:sp>
      <p:sp>
        <p:nvSpPr>
          <p:cNvPr id="30" name="Shape 23"/>
          <p:cNvSpPr/>
          <p:nvPr/>
        </p:nvSpPr>
        <p:spPr>
          <a:xfrm>
            <a:off x="8604504" y="5669280"/>
            <a:ext cx="393192" cy="320040"/>
          </a:xfrm>
          <a:prstGeom prst="right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9052560" y="53492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0EA5E9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9052560" y="53492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2918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UI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Intelligence Hub — Foundation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94944" y="2212848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ciq/icons/cubes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03" y="2269907"/>
            <a:ext cx="324795" cy="3247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201168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Streamlit-based application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23360" y="2011680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169664" y="2212848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ciq/icons/layerGroup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6723" y="2269907"/>
            <a:ext cx="324795" cy="3247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201168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navigation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023360" y="3054096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4169664" y="3255264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/home/claude/ciq/icons/tasks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6723" y="3312323"/>
            <a:ext cx="324795" cy="32479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36592" y="3054096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57784" y="3044952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704088" y="3246120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/home/claude/ciq/icons/chartLine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47" y="3303179"/>
            <a:ext cx="324795" cy="32479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71016" y="3044952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4023360" y="4096512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4169664" y="4297680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5" descr="/home/claude/ciq/icons/moneyBill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6723" y="4354739"/>
            <a:ext cx="324795" cy="32479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736592" y="4096512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557784" y="4087368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3"/>
          <p:cNvSpPr/>
          <p:nvPr/>
        </p:nvSpPr>
        <p:spPr>
          <a:xfrm>
            <a:off x="704088" y="4288536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6" descr="/home/claude/ciq/icons/sync_1E276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147" y="4345595"/>
            <a:ext cx="324795" cy="32479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271016" y="4087368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prediction</a:t>
            </a:r>
            <a:endParaRPr lang="en-US" sz="1600" dirty="0"/>
          </a:p>
        </p:txBody>
      </p:sp>
      <p:sp>
        <p:nvSpPr>
          <p:cNvPr id="34" name="Shape 25"/>
          <p:cNvSpPr/>
          <p:nvPr/>
        </p:nvSpPr>
        <p:spPr>
          <a:xfrm>
            <a:off x="4023360" y="5138928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6"/>
          <p:cNvSpPr/>
          <p:nvPr/>
        </p:nvSpPr>
        <p:spPr>
          <a:xfrm>
            <a:off x="4169664" y="5340096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7" descr="/home/claude/ciq/icons/fileAlt_1E276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6723" y="5397155"/>
            <a:ext cx="324795" cy="32479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736592" y="5138928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600" dirty="0"/>
          </a:p>
        </p:txBody>
      </p:sp>
      <p:sp>
        <p:nvSpPr>
          <p:cNvPr id="39" name="Text 29"/>
          <p:cNvSpPr/>
          <p:nvPr/>
        </p:nvSpPr>
        <p:spPr>
          <a:xfrm>
            <a:off x="800100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Architecture</a:t>
            </a:r>
            <a:endParaRPr lang="en-US" sz="1600" dirty="0"/>
          </a:p>
        </p:txBody>
      </p:sp>
      <p:sp>
        <p:nvSpPr>
          <p:cNvPr id="40" name="Shape 30"/>
          <p:cNvSpPr/>
          <p:nvPr/>
        </p:nvSpPr>
        <p:spPr>
          <a:xfrm>
            <a:off x="8001000" y="2514600"/>
            <a:ext cx="3566160" cy="713232"/>
          </a:xfrm>
          <a:prstGeom prst="roundRect">
            <a:avLst>
              <a:gd name="adj" fmla="val 12821"/>
            </a:avLst>
          </a:prstGeom>
          <a:solidFill>
            <a:srgbClr val="1E2761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1"/>
          <p:cNvSpPr/>
          <p:nvPr/>
        </p:nvSpPr>
        <p:spPr>
          <a:xfrm>
            <a:off x="8129016" y="269748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8" descr="/home/claude/ciq/icons/users_1E276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4187" y="2742651"/>
            <a:ext cx="257129" cy="257129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8622792" y="251460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700" dirty="0"/>
          </a:p>
        </p:txBody>
      </p:sp>
      <p:sp>
        <p:nvSpPr>
          <p:cNvPr id="44" name="Shape 33"/>
          <p:cNvSpPr/>
          <p:nvPr/>
        </p:nvSpPr>
        <p:spPr>
          <a:xfrm>
            <a:off x="9674352" y="3255264"/>
            <a:ext cx="219456" cy="256032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34"/>
          <p:cNvSpPr/>
          <p:nvPr/>
        </p:nvSpPr>
        <p:spPr>
          <a:xfrm>
            <a:off x="8001000" y="3547872"/>
            <a:ext cx="35661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35"/>
          <p:cNvSpPr/>
          <p:nvPr/>
        </p:nvSpPr>
        <p:spPr>
          <a:xfrm>
            <a:off x="8129016" y="3730752"/>
            <a:ext cx="347472" cy="34747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9" descr="/home/claude/ciq/icons/cubes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187" y="3775923"/>
            <a:ext cx="257129" cy="257129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8622792" y="3547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700" dirty="0"/>
          </a:p>
        </p:txBody>
      </p:sp>
      <p:sp>
        <p:nvSpPr>
          <p:cNvPr id="49" name="Shape 37"/>
          <p:cNvSpPr/>
          <p:nvPr/>
        </p:nvSpPr>
        <p:spPr>
          <a:xfrm>
            <a:off x="9674352" y="4288536"/>
            <a:ext cx="219456" cy="256032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38"/>
          <p:cNvSpPr/>
          <p:nvPr/>
        </p:nvSpPr>
        <p:spPr>
          <a:xfrm>
            <a:off x="8001000" y="4581144"/>
            <a:ext cx="35661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39"/>
          <p:cNvSpPr/>
          <p:nvPr/>
        </p:nvSpPr>
        <p:spPr>
          <a:xfrm>
            <a:off x="8129016" y="4764024"/>
            <a:ext cx="347472" cy="34747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2" name="Image 10" descr="/home/claude/ciq/icons/layerGroup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187" y="4809195"/>
            <a:ext cx="257129" cy="257129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8622792" y="4581144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700" dirty="0"/>
          </a:p>
        </p:txBody>
      </p:sp>
      <p:sp>
        <p:nvSpPr>
          <p:cNvPr id="54" name="Shape 41"/>
          <p:cNvSpPr/>
          <p:nvPr/>
        </p:nvSpPr>
        <p:spPr>
          <a:xfrm>
            <a:off x="9674352" y="5321808"/>
            <a:ext cx="219456" cy="256032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43"/>
          <p:cNvSpPr/>
          <p:nvPr/>
        </p:nvSpPr>
        <p:spPr>
          <a:xfrm>
            <a:off x="8129016" y="579729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45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1" name="Shape 30">
            <a:extLst>
              <a:ext uri="{FF2B5EF4-FFF2-40B4-BE49-F238E27FC236}">
                <a16:creationId xmlns:a16="http://schemas.microsoft.com/office/drawing/2014/main" id="{39366D74-0ECC-E5D8-EFAE-ED0FF189972A}"/>
              </a:ext>
            </a:extLst>
          </p:cNvPr>
          <p:cNvSpPr/>
          <p:nvPr/>
        </p:nvSpPr>
        <p:spPr>
          <a:xfrm>
            <a:off x="8001000" y="5614761"/>
            <a:ext cx="3566160" cy="713232"/>
          </a:xfrm>
          <a:prstGeom prst="roundRect">
            <a:avLst>
              <a:gd name="adj" fmla="val 12821"/>
            </a:avLst>
          </a:prstGeom>
          <a:solidFill>
            <a:srgbClr val="1E2761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31">
            <a:extLst>
              <a:ext uri="{FF2B5EF4-FFF2-40B4-BE49-F238E27FC236}">
                <a16:creationId xmlns:a16="http://schemas.microsoft.com/office/drawing/2014/main" id="{44A4DE35-772C-2C9B-7912-601583BD5332}"/>
              </a:ext>
            </a:extLst>
          </p:cNvPr>
          <p:cNvSpPr/>
          <p:nvPr/>
        </p:nvSpPr>
        <p:spPr>
          <a:xfrm>
            <a:off x="8129016" y="5797641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5" name="Image 8" descr="/home/claude/ciq/icons/users_1E2761.png">
            <a:extLst>
              <a:ext uri="{FF2B5EF4-FFF2-40B4-BE49-F238E27FC236}">
                <a16:creationId xmlns:a16="http://schemas.microsoft.com/office/drawing/2014/main" id="{02470376-F622-0554-30A6-2E00A8B3C3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4187" y="5842812"/>
            <a:ext cx="257129" cy="257129"/>
          </a:xfrm>
          <a:prstGeom prst="rect">
            <a:avLst/>
          </a:prstGeom>
        </p:spPr>
      </p:pic>
      <p:sp>
        <p:nvSpPr>
          <p:cNvPr id="67" name="Text 32">
            <a:extLst>
              <a:ext uri="{FF2B5EF4-FFF2-40B4-BE49-F238E27FC236}">
                <a16:creationId xmlns:a16="http://schemas.microsoft.com/office/drawing/2014/main" id="{1B4D975B-5C08-70F5-1B7F-07DF162B8C44}"/>
              </a:ext>
            </a:extLst>
          </p:cNvPr>
          <p:cNvSpPr/>
          <p:nvPr/>
        </p:nvSpPr>
        <p:spPr>
          <a:xfrm>
            <a:off x="8622792" y="5614761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700" dirty="0"/>
          </a:p>
        </p:txBody>
      </p:sp>
      <p:sp>
        <p:nvSpPr>
          <p:cNvPr id="70" name="Shape 10">
            <a:extLst>
              <a:ext uri="{FF2B5EF4-FFF2-40B4-BE49-F238E27FC236}">
                <a16:creationId xmlns:a16="http://schemas.microsoft.com/office/drawing/2014/main" id="{C5605201-626A-3DED-3724-1FBE76CCB46F}"/>
              </a:ext>
            </a:extLst>
          </p:cNvPr>
          <p:cNvSpPr/>
          <p:nvPr/>
        </p:nvSpPr>
        <p:spPr>
          <a:xfrm>
            <a:off x="548640" y="5111496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11">
            <a:extLst>
              <a:ext uri="{FF2B5EF4-FFF2-40B4-BE49-F238E27FC236}">
                <a16:creationId xmlns:a16="http://schemas.microsoft.com/office/drawing/2014/main" id="{F06F1DDD-8BF8-A8D1-CC8B-3B5C21CA4303}"/>
              </a:ext>
            </a:extLst>
          </p:cNvPr>
          <p:cNvSpPr/>
          <p:nvPr/>
        </p:nvSpPr>
        <p:spPr>
          <a:xfrm>
            <a:off x="694944" y="5312664"/>
            <a:ext cx="438912" cy="438912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4" name="Image 2" descr="/home/claude/ciq/icons/database_1E2761.png">
            <a:extLst>
              <a:ext uri="{FF2B5EF4-FFF2-40B4-BE49-F238E27FC236}">
                <a16:creationId xmlns:a16="http://schemas.microsoft.com/office/drawing/2014/main" id="{12F8055B-62E0-6AB2-5A4C-AD904CA4EC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003" y="5369723"/>
            <a:ext cx="324795" cy="324795"/>
          </a:xfrm>
          <a:prstGeom prst="rect">
            <a:avLst/>
          </a:prstGeom>
        </p:spPr>
      </p:pic>
      <p:sp>
        <p:nvSpPr>
          <p:cNvPr id="76" name="Text 12">
            <a:extLst>
              <a:ext uri="{FF2B5EF4-FFF2-40B4-BE49-F238E27FC236}">
                <a16:creationId xmlns:a16="http://schemas.microsoft.com/office/drawing/2014/main" id="{A54529D1-BBAB-BDA1-B434-B02E697A03B3}"/>
              </a:ext>
            </a:extLst>
          </p:cNvPr>
          <p:cNvSpPr/>
          <p:nvPr/>
        </p:nvSpPr>
        <p:spPr>
          <a:xfrm>
            <a:off x="1261872" y="5111496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/>
              <a:t>Material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32918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57266" y="77724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Integration using Ollama – Llama 3.2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5353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496312" cy="1078992"/>
          </a:xfrm>
          <a:prstGeom prst="roundRect">
            <a:avLst>
              <a:gd name="adj" fmla="val 8475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7" name="Shape 5"/>
          <p:cNvSpPr/>
          <p:nvPr/>
        </p:nvSpPr>
        <p:spPr>
          <a:xfrm>
            <a:off x="694944" y="2093976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8" name="Image 0" descr="/home/claude/ciq/icons/comment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70" y="2143902"/>
            <a:ext cx="284196" cy="2841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2514600"/>
            <a:ext cx="24963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Assistant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18688" y="1984248"/>
            <a:ext cx="2496312" cy="1078992"/>
          </a:xfrm>
          <a:prstGeom prst="roundRect">
            <a:avLst>
              <a:gd name="adj" fmla="val 8475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1" name="Shape 8"/>
          <p:cNvSpPr/>
          <p:nvPr/>
        </p:nvSpPr>
        <p:spPr>
          <a:xfrm>
            <a:off x="3364992" y="2112264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12" name="Image 1" descr="/home/claude/ciq/icons/hardha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918" y="2162190"/>
            <a:ext cx="284196" cy="2841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4992" y="2532888"/>
            <a:ext cx="24963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Expert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2496312" cy="1078992"/>
          </a:xfrm>
          <a:prstGeom prst="roundRect">
            <a:avLst>
              <a:gd name="adj" fmla="val 8475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5" name="Shape 11"/>
          <p:cNvSpPr/>
          <p:nvPr/>
        </p:nvSpPr>
        <p:spPr>
          <a:xfrm>
            <a:off x="694944" y="3328416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16" name="Image 2" descr="/home/claude/ciq/icons/clipboardLis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870" y="3378342"/>
            <a:ext cx="284196" cy="2841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" y="3749040"/>
            <a:ext cx="24963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Q&amp;A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3218688" y="3218688"/>
            <a:ext cx="2496312" cy="1078992"/>
          </a:xfrm>
          <a:prstGeom prst="roundRect">
            <a:avLst>
              <a:gd name="adj" fmla="val 8475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9" name="Shape 14"/>
          <p:cNvSpPr/>
          <p:nvPr/>
        </p:nvSpPr>
        <p:spPr>
          <a:xfrm>
            <a:off x="3364992" y="3346704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20" name="Image 3" descr="/home/claude/ciq/icons/user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4918" y="3396630"/>
            <a:ext cx="284196" cy="2841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64992" y="3767328"/>
            <a:ext cx="24963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safety guidance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48640" y="4434840"/>
            <a:ext cx="2496312" cy="1259800"/>
          </a:xfrm>
          <a:prstGeom prst="roundRect">
            <a:avLst>
              <a:gd name="adj" fmla="val 8475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3" name="Shape 17"/>
          <p:cNvSpPr/>
          <p:nvPr/>
        </p:nvSpPr>
        <p:spPr>
          <a:xfrm>
            <a:off x="694944" y="4562856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24" name="Image 4" descr="/home/claude/ciq/icons/fileInvoic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870" y="4612782"/>
            <a:ext cx="284196" cy="2841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4944" y="4983480"/>
            <a:ext cx="24963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BOQ assistance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3218688" y="4453128"/>
            <a:ext cx="2496312" cy="1259800"/>
          </a:xfrm>
          <a:prstGeom prst="roundRect">
            <a:avLst>
              <a:gd name="adj" fmla="val 8475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7" name="Shape 20"/>
          <p:cNvSpPr/>
          <p:nvPr/>
        </p:nvSpPr>
        <p:spPr>
          <a:xfrm>
            <a:off x="3364992" y="4581144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28" name="Image 5" descr="/home/claude/ciq/icons/sync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4918" y="4631070"/>
            <a:ext cx="284196" cy="2841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364992" y="5001768"/>
            <a:ext cx="24963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knowledge support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6537960" y="147779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Query Pipeline</a:t>
            </a:r>
            <a:endParaRPr lang="en-US" sz="1800" dirty="0"/>
          </a:p>
        </p:txBody>
      </p:sp>
      <p:sp>
        <p:nvSpPr>
          <p:cNvPr id="31" name="Shape 23"/>
          <p:cNvSpPr/>
          <p:nvPr/>
        </p:nvSpPr>
        <p:spPr>
          <a:xfrm>
            <a:off x="6537960" y="2057400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4"/>
          <p:cNvSpPr/>
          <p:nvPr/>
        </p:nvSpPr>
        <p:spPr>
          <a:xfrm>
            <a:off x="6647688" y="2212848"/>
            <a:ext cx="310896" cy="310896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6" descr="/home/claude/ciq/icons/users_1E276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8104" y="2253264"/>
            <a:ext cx="230063" cy="23006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068312" y="205740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500" dirty="0"/>
          </a:p>
        </p:txBody>
      </p:sp>
      <p:sp>
        <p:nvSpPr>
          <p:cNvPr id="35" name="Shape 26"/>
          <p:cNvSpPr/>
          <p:nvPr/>
        </p:nvSpPr>
        <p:spPr>
          <a:xfrm>
            <a:off x="8983980" y="2688336"/>
            <a:ext cx="176784" cy="250424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27"/>
          <p:cNvSpPr/>
          <p:nvPr/>
        </p:nvSpPr>
        <p:spPr>
          <a:xfrm>
            <a:off x="6531864" y="2931493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28"/>
          <p:cNvSpPr/>
          <p:nvPr/>
        </p:nvSpPr>
        <p:spPr>
          <a:xfrm>
            <a:off x="6641592" y="3086941"/>
            <a:ext cx="310896" cy="310896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7" descr="/home/claude/ciq/icons/cubes_1E276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2008" y="3127357"/>
            <a:ext cx="230063" cy="230063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062216" y="2931493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AI Interface</a:t>
            </a:r>
            <a:endParaRPr lang="en-US" sz="1500" dirty="0"/>
          </a:p>
        </p:txBody>
      </p:sp>
      <p:sp>
        <p:nvSpPr>
          <p:cNvPr id="40" name="Shape 30"/>
          <p:cNvSpPr/>
          <p:nvPr/>
        </p:nvSpPr>
        <p:spPr>
          <a:xfrm>
            <a:off x="8983980" y="3562428"/>
            <a:ext cx="182880" cy="234013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1"/>
          <p:cNvSpPr/>
          <p:nvPr/>
        </p:nvSpPr>
        <p:spPr>
          <a:xfrm>
            <a:off x="6537960" y="3783544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2"/>
          <p:cNvSpPr/>
          <p:nvPr/>
        </p:nvSpPr>
        <p:spPr>
          <a:xfrm>
            <a:off x="6647688" y="392984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Image 8" descr="/home/claude/ciq/icons/robot_1E276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8104" y="3970264"/>
            <a:ext cx="230063" cy="230063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068312" y="3774400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Local Model</a:t>
            </a:r>
            <a:endParaRPr lang="en-US" sz="1500" dirty="0"/>
          </a:p>
        </p:txBody>
      </p:sp>
      <p:sp>
        <p:nvSpPr>
          <p:cNvPr id="45" name="Shape 34"/>
          <p:cNvSpPr/>
          <p:nvPr/>
        </p:nvSpPr>
        <p:spPr>
          <a:xfrm>
            <a:off x="8983980" y="4405336"/>
            <a:ext cx="176784" cy="247084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35"/>
          <p:cNvSpPr/>
          <p:nvPr/>
        </p:nvSpPr>
        <p:spPr>
          <a:xfrm>
            <a:off x="6531864" y="4637044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36"/>
          <p:cNvSpPr/>
          <p:nvPr/>
        </p:nvSpPr>
        <p:spPr>
          <a:xfrm>
            <a:off x="6641592" y="4792492"/>
            <a:ext cx="310896" cy="310896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Image 9" descr="/home/claude/ciq/icons/clipboardList_1E276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2008" y="4832908"/>
            <a:ext cx="230063" cy="230063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7062216" y="4637044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Construction-focused Prompt / Context</a:t>
            </a:r>
            <a:endParaRPr lang="en-US" sz="1500" dirty="0"/>
          </a:p>
        </p:txBody>
      </p:sp>
      <p:sp>
        <p:nvSpPr>
          <p:cNvPr id="50" name="Shape 38"/>
          <p:cNvSpPr/>
          <p:nvPr/>
        </p:nvSpPr>
        <p:spPr>
          <a:xfrm>
            <a:off x="8977884" y="5215616"/>
            <a:ext cx="182880" cy="279928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39"/>
          <p:cNvSpPr/>
          <p:nvPr/>
        </p:nvSpPr>
        <p:spPr>
          <a:xfrm>
            <a:off x="6531864" y="5504688"/>
            <a:ext cx="5074920" cy="621792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0"/>
          <p:cNvSpPr/>
          <p:nvPr/>
        </p:nvSpPr>
        <p:spPr>
          <a:xfrm>
            <a:off x="6641592" y="566013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3" name="Image 10" descr="/home/claude/ciq/icons/checkCircle_0EA5E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82008" y="5700552"/>
            <a:ext cx="230063" cy="230063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7062216" y="5504688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</a:t>
            </a:r>
            <a:endParaRPr lang="en-US" sz="1500" dirty="0"/>
          </a:p>
        </p:txBody>
      </p:sp>
      <p:sp>
        <p:nvSpPr>
          <p:cNvPr id="55" name="Shape 42"/>
          <p:cNvSpPr/>
          <p:nvPr/>
        </p:nvSpPr>
        <p:spPr>
          <a:xfrm>
            <a:off x="521208" y="6362152"/>
            <a:ext cx="11091672" cy="274321"/>
          </a:xfrm>
          <a:prstGeom prst="roundRect">
            <a:avLst>
              <a:gd name="adj" fmla="val 14286"/>
            </a:avLst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43"/>
          <p:cNvSpPr/>
          <p:nvPr/>
        </p:nvSpPr>
        <p:spPr>
          <a:xfrm>
            <a:off x="749808" y="6362152"/>
            <a:ext cx="10607040" cy="2743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integration through Ollama reduces dependency on external API calls and supports controlled, construction-focused assistance.</a:t>
            </a:r>
            <a:endParaRPr lang="en-US" sz="1400" dirty="0"/>
          </a:p>
        </p:txBody>
      </p:sp>
      <p:sp>
        <p:nvSpPr>
          <p:cNvPr id="57" name="Text 44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B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Guardrails &amp; Construction Safety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91705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B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APPROACH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014465" y="2176272"/>
            <a:ext cx="4434840" cy="621792"/>
          </a:xfrm>
          <a:prstGeom prst="roundRect">
            <a:avLst>
              <a:gd name="adj" fmla="val 13235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14465" y="217627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36229" y="2798064"/>
            <a:ext cx="313048" cy="182880"/>
          </a:xfrm>
          <a:prstGeom prst="downArrow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14465" y="2999232"/>
            <a:ext cx="4434840" cy="621792"/>
          </a:xfrm>
          <a:prstGeom prst="roundRect">
            <a:avLst>
              <a:gd name="adj" fmla="val 13235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14465" y="299923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Validation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36229" y="3621024"/>
            <a:ext cx="313048" cy="182880"/>
          </a:xfrm>
          <a:prstGeom prst="downArrow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14465" y="3822192"/>
            <a:ext cx="4434840" cy="621792"/>
          </a:xfrm>
          <a:prstGeom prst="roundRect">
            <a:avLst>
              <a:gd name="adj" fmla="val 13235"/>
            </a:avLst>
          </a:prstGeom>
          <a:solidFill>
            <a:srgbClr val="F5F8FB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14465" y="3822192"/>
            <a:ext cx="4434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Construction-Related?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36229" y="4443984"/>
            <a:ext cx="313048" cy="182880"/>
          </a:xfrm>
          <a:prstGeom prst="downArrow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014464" y="4690872"/>
            <a:ext cx="2021765" cy="685800"/>
          </a:xfrm>
          <a:prstGeom prst="roundRect">
            <a:avLst>
              <a:gd name="adj" fmla="val 12000"/>
            </a:avLst>
          </a:prstGeom>
          <a:solidFill>
            <a:srgbClr val="E7F5EE"/>
          </a:solidFill>
          <a:ln w="12700">
            <a:solidFill>
              <a:srgbClr val="1E8A5E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14464" y="4690872"/>
            <a:ext cx="202176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Response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27540" y="4686300"/>
            <a:ext cx="2021765" cy="68580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12700">
            <a:solidFill>
              <a:srgbClr val="B02E2E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27540" y="4686300"/>
            <a:ext cx="202176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B0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Redirect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0" y="13716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B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THE SYSTEM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49440" y="1691640"/>
            <a:ext cx="470916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 w="1270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20" name="Text 18"/>
          <p:cNvSpPr/>
          <p:nvPr/>
        </p:nvSpPr>
        <p:spPr>
          <a:xfrm>
            <a:off x="7223760" y="18745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r>
              <a:rPr lang="en-US" sz="14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228600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"That’s outside construction topics. Try the General Assistant page, or ask about site safety, materials, BOQ, scheduling, or building codes."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3584448"/>
            <a:ext cx="118872" cy="118872"/>
          </a:xfrm>
          <a:prstGeom prst="ellipse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3" name="Text 21"/>
          <p:cNvSpPr/>
          <p:nvPr/>
        </p:nvSpPr>
        <p:spPr>
          <a:xfrm>
            <a:off x="7205472" y="348386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Construction-focused AI responses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49440" y="4041648"/>
            <a:ext cx="118872" cy="118872"/>
          </a:xfrm>
          <a:prstGeom prst="ellipse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5" name="Text 23"/>
          <p:cNvSpPr/>
          <p:nvPr/>
        </p:nvSpPr>
        <p:spPr>
          <a:xfrm>
            <a:off x="7205472" y="394106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restriction on off-domain queries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49440" y="4498848"/>
            <a:ext cx="118872" cy="118872"/>
          </a:xfrm>
          <a:prstGeom prst="ellipse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7" name="Text 25"/>
          <p:cNvSpPr/>
          <p:nvPr/>
        </p:nvSpPr>
        <p:spPr>
          <a:xfrm>
            <a:off x="7205472" y="439826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Safer, more predictable AI interaction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49440" y="4956048"/>
            <a:ext cx="118872" cy="118872"/>
          </a:xfrm>
          <a:prstGeom prst="ellipse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9" name="Text 27"/>
          <p:cNvSpPr/>
          <p:nvPr/>
        </p:nvSpPr>
        <p:spPr>
          <a:xfrm>
            <a:off x="7205472" y="485546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between General Assistant &amp; Construction Expert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52183" y="5467336"/>
            <a:ext cx="118872" cy="118872"/>
          </a:xfrm>
          <a:prstGeom prst="ellipse">
            <a:avLst/>
          </a:prstGeom>
          <a:solidFill>
            <a:srgbClr val="0EA5C4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1" name="Text 29"/>
          <p:cNvSpPr/>
          <p:nvPr/>
        </p:nvSpPr>
        <p:spPr>
          <a:xfrm>
            <a:off x="7208215" y="5366752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irrelevant responses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Intelligence Hub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FOUNDATION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Construction Agents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2194560"/>
          </a:xfrm>
          <a:prstGeom prst="roundRect">
            <a:avLst>
              <a:gd name="adj" fmla="val 5833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iq/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1918411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470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Risk Agent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487168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Site risk assessment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 scoring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 history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349240" cy="2194560"/>
          </a:xfrm>
          <a:prstGeom prst="roundRect">
            <a:avLst>
              <a:gd name="adj" fmla="val 5833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537960" y="1847088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ciq/icons/hardha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283" y="1918411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470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Agent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29400" y="2487168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PPE compliance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Worker monitoring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Safety analysis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94360" y="4069080"/>
            <a:ext cx="5349240" cy="2194560"/>
          </a:xfrm>
          <a:prstGeom prst="roundRect">
            <a:avLst>
              <a:gd name="adj" fmla="val 5833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22960" y="4270248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ciq/icons/clipboard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" y="4341571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Agent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914400" y="4910328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Standards validation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Compliance scoring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Policy violation detection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Inspection tracking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309360" y="4069080"/>
            <a:ext cx="5349240" cy="2194560"/>
          </a:xfrm>
          <a:prstGeom prst="roundRect">
            <a:avLst>
              <a:gd name="adj" fmla="val 5833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537960" y="427024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ciq/icons/user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283" y="4341571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Agent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629400" y="4910328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Insurance exposure analysis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Incident severity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Claim risk prediction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Risk scoring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Intelligence &amp; Analytics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iq/icons/chartPie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88" y="19399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404872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37304" y="1691640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538472" y="187452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ciq/icons/chartLine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852" y="193990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8472" y="2404872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Monitoring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25968" y="1691640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8327136" y="1874520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/home/claude/ciq/icons/shield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2516" y="1939900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27136" y="2404872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Risk History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2999232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749808" y="3182112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ciq/icons/hardhat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88" y="3247492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" y="3712464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Score Tracking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337304" y="2999232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4538472" y="3182112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/home/claude/ciq/icons/clipboardCheck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3852" y="3247492"/>
            <a:ext cx="372161" cy="37216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38472" y="3712464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Score Tracking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125968" y="2999232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8327136" y="3182112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/home/claude/ciq/icons/userShield_1E276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2516" y="3247492"/>
            <a:ext cx="372161" cy="37216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27136" y="3712464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Risk Tracking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548640" y="4306824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1"/>
          <p:cNvSpPr/>
          <p:nvPr/>
        </p:nvSpPr>
        <p:spPr>
          <a:xfrm>
            <a:off x="749808" y="4489704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6" descr="/home/claude/ciq/icons/checkCircle_1E276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188" y="4555084"/>
            <a:ext cx="372161" cy="37216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9808" y="5020056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Health Analysis</a:t>
            </a:r>
            <a:endParaRPr lang="en-US" sz="1500" dirty="0"/>
          </a:p>
        </p:txBody>
      </p:sp>
      <p:sp>
        <p:nvSpPr>
          <p:cNvPr id="32" name="Shape 23"/>
          <p:cNvSpPr/>
          <p:nvPr/>
        </p:nvSpPr>
        <p:spPr>
          <a:xfrm>
            <a:off x="4337304" y="4306824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4"/>
          <p:cNvSpPr/>
          <p:nvPr/>
        </p:nvSpPr>
        <p:spPr>
          <a:xfrm>
            <a:off x="4538472" y="4489704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7" descr="/home/claude/ciq/icons/moneyBill_1E276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3852" y="4555084"/>
            <a:ext cx="372161" cy="372161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538472" y="5020056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 Cost Insights</a:t>
            </a:r>
            <a:endParaRPr lang="en-US" sz="1500" dirty="0"/>
          </a:p>
        </p:txBody>
      </p:sp>
      <p:sp>
        <p:nvSpPr>
          <p:cNvPr id="36" name="Shape 26"/>
          <p:cNvSpPr/>
          <p:nvPr/>
        </p:nvSpPr>
        <p:spPr>
          <a:xfrm>
            <a:off x="8125968" y="4306824"/>
            <a:ext cx="351434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875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27"/>
          <p:cNvSpPr/>
          <p:nvPr/>
        </p:nvSpPr>
        <p:spPr>
          <a:xfrm>
            <a:off x="8327136" y="4489704"/>
            <a:ext cx="502920" cy="50292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8" descr="/home/claude/ciq/icons/tasks_1E276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2516" y="4555084"/>
            <a:ext cx="372161" cy="372161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327136" y="5020056"/>
            <a:ext cx="311200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&amp; Incident Monitoring</a:t>
            </a:r>
            <a:endParaRPr lang="en-US" sz="1500" dirty="0"/>
          </a:p>
        </p:txBody>
      </p:sp>
      <p:sp>
        <p:nvSpPr>
          <p:cNvPr id="41" name="Text 30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&amp; REPORTING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Estimation &amp; Intelligent Reporting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331720"/>
          </a:xfrm>
          <a:prstGeom prst="roundRect">
            <a:avLst>
              <a:gd name="adj" fmla="val 549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iq/icons/clipboardLi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52" y="2013052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476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Estimation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Quantity estimation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BOQ generation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Material cost calculation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Project-based estimation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2331720"/>
          </a:xfrm>
          <a:prstGeom prst="roundRect">
            <a:avLst>
              <a:gd name="adj" fmla="val 5490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519672" y="1947672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ciq/icons/file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052" y="2013052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476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Daily, weekly &amp; monthly reports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Executive &amp; project health reports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reports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PDF / Excel export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52628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481328" y="4690872"/>
            <a:ext cx="512064" cy="512064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ciq/icons/database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896" y="4757440"/>
            <a:ext cx="378927" cy="3789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" y="5212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2971800" y="4892040"/>
            <a:ext cx="365760" cy="320040"/>
          </a:xfrm>
          <a:prstGeom prst="right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3383280" y="452628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4315968" y="4690872"/>
            <a:ext cx="512064" cy="512064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ciq/icons/chartLine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2536" y="4757440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383280" y="5212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5806440" y="4892040"/>
            <a:ext cx="365760" cy="320040"/>
          </a:xfrm>
          <a:prstGeom prst="right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6217920" y="452628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7150608" y="4690872"/>
            <a:ext cx="512064" cy="512064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ciq/icons/clipboardList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7176" y="4757440"/>
            <a:ext cx="378927" cy="3789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17920" y="5212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/ Reports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8641080" y="4892040"/>
            <a:ext cx="365760" cy="320040"/>
          </a:xfrm>
          <a:prstGeom prst="right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9052560" y="452628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0EA5E9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9985248" y="469087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ciq/icons/checkCircle_0EA5E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1816" y="4757440"/>
            <a:ext cx="378927" cy="3789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5212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Construction Intelligence Hub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970532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6" name="Image 0" descr="/home/claude/ciq/icons/cube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99" y="2034723"/>
            <a:ext cx="365394" cy="3653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26080" y="1728216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9" name="Text 6"/>
          <p:cNvSpPr/>
          <p:nvPr/>
        </p:nvSpPr>
        <p:spPr>
          <a:xfrm>
            <a:off x="2971800" y="1728216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141214" y="1728216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1" name="Text 8"/>
          <p:cNvSpPr/>
          <p:nvPr/>
        </p:nvSpPr>
        <p:spPr>
          <a:xfrm>
            <a:off x="5186934" y="1728216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56348" y="1728216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3" name="Text 10"/>
          <p:cNvSpPr/>
          <p:nvPr/>
        </p:nvSpPr>
        <p:spPr>
          <a:xfrm>
            <a:off x="7402068" y="1728216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Safety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571482" y="1728216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5" name="Text 12"/>
          <p:cNvSpPr/>
          <p:nvPr/>
        </p:nvSpPr>
        <p:spPr>
          <a:xfrm>
            <a:off x="9617202" y="1728216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926080" y="2286000"/>
            <a:ext cx="205054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7" name="Text 14"/>
          <p:cNvSpPr/>
          <p:nvPr/>
        </p:nvSpPr>
        <p:spPr>
          <a:xfrm>
            <a:off x="2971800" y="2286000"/>
            <a:ext cx="195910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122926" y="2286000"/>
            <a:ext cx="205054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9" name="Text 16"/>
          <p:cNvSpPr/>
          <p:nvPr/>
        </p:nvSpPr>
        <p:spPr>
          <a:xfrm>
            <a:off x="5168646" y="2286000"/>
            <a:ext cx="195910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Estimation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319772" y="2286000"/>
            <a:ext cx="205054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1" name="Text 18"/>
          <p:cNvSpPr/>
          <p:nvPr/>
        </p:nvSpPr>
        <p:spPr>
          <a:xfrm>
            <a:off x="7365492" y="2286000"/>
            <a:ext cx="195910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975604" y="2907792"/>
            <a:ext cx="237744" cy="201168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3" name="Shape 20"/>
          <p:cNvSpPr/>
          <p:nvPr/>
        </p:nvSpPr>
        <p:spPr>
          <a:xfrm>
            <a:off x="548640" y="3182112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749808" y="3552444"/>
            <a:ext cx="493776" cy="493776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25" name="Image 1" descr="/home/claude/ciq/icons/robo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99" y="3616635"/>
            <a:ext cx="365394" cy="36539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371600" y="3182112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2926080" y="3310128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8" name="Text 24"/>
          <p:cNvSpPr/>
          <p:nvPr/>
        </p:nvSpPr>
        <p:spPr>
          <a:xfrm>
            <a:off x="2971800" y="3310128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5141214" y="3310128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0" name="Text 26"/>
          <p:cNvSpPr/>
          <p:nvPr/>
        </p:nvSpPr>
        <p:spPr>
          <a:xfrm>
            <a:off x="5186934" y="3310128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Analysis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7356348" y="3310128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2" name="Text 28"/>
          <p:cNvSpPr/>
          <p:nvPr/>
        </p:nvSpPr>
        <p:spPr>
          <a:xfrm>
            <a:off x="7402068" y="3310128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Assessment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9571482" y="3310128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4" name="Text 30"/>
          <p:cNvSpPr/>
          <p:nvPr/>
        </p:nvSpPr>
        <p:spPr>
          <a:xfrm>
            <a:off x="9617202" y="3310128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Risk Analysis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2926080" y="3867912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6" name="Text 32"/>
          <p:cNvSpPr/>
          <p:nvPr/>
        </p:nvSpPr>
        <p:spPr>
          <a:xfrm>
            <a:off x="2971800" y="3867912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5141214" y="3867912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8" name="Text 34"/>
          <p:cNvSpPr/>
          <p:nvPr/>
        </p:nvSpPr>
        <p:spPr>
          <a:xfrm>
            <a:off x="5186934" y="3867912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Prediction</a:t>
            </a:r>
            <a:endParaRPr lang="en-US" sz="1400" dirty="0"/>
          </a:p>
        </p:txBody>
      </p:sp>
      <p:sp>
        <p:nvSpPr>
          <p:cNvPr id="39" name="Shape 35"/>
          <p:cNvSpPr/>
          <p:nvPr/>
        </p:nvSpPr>
        <p:spPr>
          <a:xfrm>
            <a:off x="7356348" y="3867912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0" name="Text 36"/>
          <p:cNvSpPr/>
          <p:nvPr/>
        </p:nvSpPr>
        <p:spPr>
          <a:xfrm>
            <a:off x="7402068" y="3867912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Estimation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9571482" y="3867912"/>
            <a:ext cx="2068830" cy="42062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2" name="Text 38"/>
          <p:cNvSpPr/>
          <p:nvPr/>
        </p:nvSpPr>
        <p:spPr>
          <a:xfrm>
            <a:off x="9617202" y="3867912"/>
            <a:ext cx="197739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AI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5975604" y="4489704"/>
            <a:ext cx="237744" cy="201168"/>
          </a:xfrm>
          <a:prstGeom prst="down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4" name="Shape 40"/>
          <p:cNvSpPr/>
          <p:nvPr/>
        </p:nvSpPr>
        <p:spPr>
          <a:xfrm>
            <a:off x="548640" y="4764024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F4F8F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1"/>
          <p:cNvSpPr/>
          <p:nvPr/>
        </p:nvSpPr>
        <p:spPr>
          <a:xfrm>
            <a:off x="749808" y="5134356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600"/>
          </a:p>
        </p:txBody>
      </p:sp>
      <p:pic>
        <p:nvPicPr>
          <p:cNvPr id="46" name="Image 2" descr="/home/claude/ciq/icons/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999" y="5198547"/>
            <a:ext cx="365394" cy="365394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1371600" y="4764024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48" name="Shape 43"/>
          <p:cNvSpPr/>
          <p:nvPr/>
        </p:nvSpPr>
        <p:spPr>
          <a:xfrm>
            <a:off x="2926080" y="4892040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9" name="Text 44"/>
          <p:cNvSpPr/>
          <p:nvPr/>
        </p:nvSpPr>
        <p:spPr>
          <a:xfrm>
            <a:off x="2971800" y="4892040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400" dirty="0"/>
          </a:p>
        </p:txBody>
      </p:sp>
      <p:sp>
        <p:nvSpPr>
          <p:cNvPr id="50" name="Shape 45"/>
          <p:cNvSpPr/>
          <p:nvPr/>
        </p:nvSpPr>
        <p:spPr>
          <a:xfrm>
            <a:off x="4698187" y="4892040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1" name="Text 46"/>
          <p:cNvSpPr/>
          <p:nvPr/>
        </p:nvSpPr>
        <p:spPr>
          <a:xfrm>
            <a:off x="4743907" y="4892040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400" dirty="0"/>
          </a:p>
        </p:txBody>
      </p:sp>
      <p:sp>
        <p:nvSpPr>
          <p:cNvPr id="52" name="Shape 47"/>
          <p:cNvSpPr/>
          <p:nvPr/>
        </p:nvSpPr>
        <p:spPr>
          <a:xfrm>
            <a:off x="6470294" y="4892040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3" name="Text 48"/>
          <p:cNvSpPr/>
          <p:nvPr/>
        </p:nvSpPr>
        <p:spPr>
          <a:xfrm>
            <a:off x="6516014" y="4892040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400" dirty="0"/>
          </a:p>
        </p:txBody>
      </p:sp>
      <p:sp>
        <p:nvSpPr>
          <p:cNvPr id="54" name="Shape 49"/>
          <p:cNvSpPr/>
          <p:nvPr/>
        </p:nvSpPr>
        <p:spPr>
          <a:xfrm>
            <a:off x="8242402" y="4892040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5" name="Text 50"/>
          <p:cNvSpPr/>
          <p:nvPr/>
        </p:nvSpPr>
        <p:spPr>
          <a:xfrm>
            <a:off x="8288122" y="4892040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400" dirty="0"/>
          </a:p>
        </p:txBody>
      </p:sp>
      <p:sp>
        <p:nvSpPr>
          <p:cNvPr id="56" name="Shape 51"/>
          <p:cNvSpPr/>
          <p:nvPr/>
        </p:nvSpPr>
        <p:spPr>
          <a:xfrm>
            <a:off x="10014509" y="4892040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7" name="Text 52"/>
          <p:cNvSpPr/>
          <p:nvPr/>
        </p:nvSpPr>
        <p:spPr>
          <a:xfrm>
            <a:off x="10060229" y="4892040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Logs</a:t>
            </a:r>
            <a:endParaRPr lang="en-US" sz="1400" dirty="0"/>
          </a:p>
        </p:txBody>
      </p:sp>
      <p:sp>
        <p:nvSpPr>
          <p:cNvPr id="58" name="Shape 53"/>
          <p:cNvSpPr/>
          <p:nvPr/>
        </p:nvSpPr>
        <p:spPr>
          <a:xfrm>
            <a:off x="2926080" y="5449824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9" name="Text 54"/>
          <p:cNvSpPr/>
          <p:nvPr/>
        </p:nvSpPr>
        <p:spPr>
          <a:xfrm>
            <a:off x="2971800" y="5449824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Logs</a:t>
            </a:r>
            <a:endParaRPr lang="en-US" sz="1400" dirty="0"/>
          </a:p>
        </p:txBody>
      </p:sp>
      <p:sp>
        <p:nvSpPr>
          <p:cNvPr id="60" name="Shape 55"/>
          <p:cNvSpPr/>
          <p:nvPr/>
        </p:nvSpPr>
        <p:spPr>
          <a:xfrm>
            <a:off x="4698187" y="5449824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61" name="Text 56"/>
          <p:cNvSpPr/>
          <p:nvPr/>
        </p:nvSpPr>
        <p:spPr>
          <a:xfrm>
            <a:off x="4743907" y="5449824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Logs</a:t>
            </a:r>
            <a:endParaRPr lang="en-US" sz="1400" dirty="0"/>
          </a:p>
        </p:txBody>
      </p:sp>
      <p:sp>
        <p:nvSpPr>
          <p:cNvPr id="62" name="Shape 57"/>
          <p:cNvSpPr/>
          <p:nvPr/>
        </p:nvSpPr>
        <p:spPr>
          <a:xfrm>
            <a:off x="6470294" y="5449824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63" name="Text 58"/>
          <p:cNvSpPr/>
          <p:nvPr/>
        </p:nvSpPr>
        <p:spPr>
          <a:xfrm>
            <a:off x="6516014" y="5449824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Logs</a:t>
            </a:r>
            <a:endParaRPr lang="en-US" sz="1400" dirty="0"/>
          </a:p>
        </p:txBody>
      </p:sp>
      <p:sp>
        <p:nvSpPr>
          <p:cNvPr id="64" name="Shape 59"/>
          <p:cNvSpPr/>
          <p:nvPr/>
        </p:nvSpPr>
        <p:spPr>
          <a:xfrm>
            <a:off x="8242402" y="5449824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65" name="Text 60"/>
          <p:cNvSpPr/>
          <p:nvPr/>
        </p:nvSpPr>
        <p:spPr>
          <a:xfrm>
            <a:off x="8288122" y="5449824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Records</a:t>
            </a:r>
            <a:endParaRPr lang="en-US" sz="1400" dirty="0"/>
          </a:p>
        </p:txBody>
      </p:sp>
      <p:sp>
        <p:nvSpPr>
          <p:cNvPr id="66" name="Shape 61"/>
          <p:cNvSpPr/>
          <p:nvPr/>
        </p:nvSpPr>
        <p:spPr>
          <a:xfrm>
            <a:off x="10014509" y="5449824"/>
            <a:ext cx="1625803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67" name="Text 62"/>
          <p:cNvSpPr/>
          <p:nvPr/>
        </p:nvSpPr>
        <p:spPr>
          <a:xfrm>
            <a:off x="10060229" y="5449824"/>
            <a:ext cx="153436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68" name="Text 63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429000"/>
          </a:xfrm>
          <a:prstGeom prst="roundRect">
            <a:avLst>
              <a:gd name="adj" fmla="val 3733"/>
            </a:avLst>
          </a:prstGeom>
          <a:solidFill>
            <a:srgbClr val="E9FB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8562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OUTCOME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2369759"/>
            <a:ext cx="216530" cy="216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2768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construction intelligence platform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26746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2712659"/>
            <a:ext cx="216530" cy="2165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6197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project monitoring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868680" y="3017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3055559"/>
            <a:ext cx="216530" cy="2165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9626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construction interaction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868680" y="33604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3398459"/>
            <a:ext cx="216530" cy="2165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3055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safety intelligence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868680" y="37033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4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3741359"/>
            <a:ext cx="216530" cy="21653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36484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monitoring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868680" y="40462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5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4084259"/>
            <a:ext cx="216530" cy="21653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80160" y="39913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risk analysis</a:t>
            </a:r>
            <a:endParaRPr lang="en-US" sz="1450" dirty="0"/>
          </a:p>
        </p:txBody>
      </p:sp>
      <p:sp>
        <p:nvSpPr>
          <p:cNvPr id="24" name="Shape 16"/>
          <p:cNvSpPr/>
          <p:nvPr/>
        </p:nvSpPr>
        <p:spPr>
          <a:xfrm>
            <a:off x="868680" y="43891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6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4427159"/>
            <a:ext cx="216530" cy="21653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280160" y="43342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estimation and BOQ</a:t>
            </a:r>
            <a:endParaRPr lang="en-US" sz="1450" dirty="0"/>
          </a:p>
        </p:txBody>
      </p:sp>
      <p:sp>
        <p:nvSpPr>
          <p:cNvPr id="27" name="Shape 18"/>
          <p:cNvSpPr/>
          <p:nvPr/>
        </p:nvSpPr>
        <p:spPr>
          <a:xfrm>
            <a:off x="868680" y="47320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7" descr="/home/claude/ciq/icons/checkCircle_22C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4770059"/>
            <a:ext cx="216530" cy="21653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280160" y="46771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1450" dirty="0"/>
          </a:p>
        </p:txBody>
      </p:sp>
      <p:sp>
        <p:nvSpPr>
          <p:cNvPr id="30" name="Shape 20"/>
          <p:cNvSpPr/>
          <p:nvPr/>
        </p:nvSpPr>
        <p:spPr>
          <a:xfrm>
            <a:off x="6263640" y="1600200"/>
            <a:ext cx="5349240" cy="3429000"/>
          </a:xfrm>
          <a:prstGeom prst="roundRect">
            <a:avLst>
              <a:gd name="adj" fmla="val 3733"/>
            </a:avLst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1"/>
          <p:cNvSpPr/>
          <p:nvPr/>
        </p:nvSpPr>
        <p:spPr>
          <a:xfrm>
            <a:off x="6583680" y="18562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32" name="Shape 22"/>
          <p:cNvSpPr/>
          <p:nvPr/>
        </p:nvSpPr>
        <p:spPr>
          <a:xfrm>
            <a:off x="6583680" y="23317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8" descr="/home/claude/ciq/icons/sync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19" y="2369759"/>
            <a:ext cx="216530" cy="21653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995160" y="22768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live IoT / site sensors</a:t>
            </a:r>
            <a:endParaRPr lang="en-US" sz="1450" dirty="0"/>
          </a:p>
        </p:txBody>
      </p:sp>
      <p:sp>
        <p:nvSpPr>
          <p:cNvPr id="35" name="Shape 24"/>
          <p:cNvSpPr/>
          <p:nvPr/>
        </p:nvSpPr>
        <p:spPr>
          <a:xfrm>
            <a:off x="6583680" y="26974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9" descr="/home/claude/ciq/icons/sync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19" y="2735519"/>
            <a:ext cx="216530" cy="21653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995160" y="264261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advanced computer vision</a:t>
            </a:r>
            <a:endParaRPr lang="en-US" sz="1450" dirty="0"/>
          </a:p>
        </p:txBody>
      </p:sp>
      <p:sp>
        <p:nvSpPr>
          <p:cNvPr id="38" name="Shape 26"/>
          <p:cNvSpPr/>
          <p:nvPr/>
        </p:nvSpPr>
        <p:spPr>
          <a:xfrm>
            <a:off x="6583680" y="30632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10" descr="/home/claude/ciq/icons/sync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19" y="3101279"/>
            <a:ext cx="216530" cy="21653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995160" y="300837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BIM systems</a:t>
            </a:r>
            <a:endParaRPr lang="en-US" sz="1450" dirty="0"/>
          </a:p>
        </p:txBody>
      </p:sp>
      <p:sp>
        <p:nvSpPr>
          <p:cNvPr id="41" name="Shape 28"/>
          <p:cNvSpPr/>
          <p:nvPr/>
        </p:nvSpPr>
        <p:spPr>
          <a:xfrm>
            <a:off x="6583680" y="34290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11" descr="/home/claude/ciq/icons/sync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19" y="3467039"/>
            <a:ext cx="216530" cy="21653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6995160" y="337413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project data synchronization</a:t>
            </a:r>
            <a:endParaRPr lang="en-US" sz="1450" dirty="0"/>
          </a:p>
        </p:txBody>
      </p:sp>
      <p:sp>
        <p:nvSpPr>
          <p:cNvPr id="44" name="Shape 30"/>
          <p:cNvSpPr/>
          <p:nvPr/>
        </p:nvSpPr>
        <p:spPr>
          <a:xfrm>
            <a:off x="6583680" y="379476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mage 12" descr="/home/claude/ciq/icons/sync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19" y="3832799"/>
            <a:ext cx="216530" cy="216530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6995160" y="373989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predictive analytics</a:t>
            </a:r>
            <a:endParaRPr lang="en-US" sz="1450" dirty="0"/>
          </a:p>
        </p:txBody>
      </p:sp>
      <p:sp>
        <p:nvSpPr>
          <p:cNvPr id="47" name="Shape 32"/>
          <p:cNvSpPr/>
          <p:nvPr/>
        </p:nvSpPr>
        <p:spPr>
          <a:xfrm>
            <a:off x="6583680" y="41605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Image 13" descr="/home/claude/ciq/icons/sync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19" y="4198559"/>
            <a:ext cx="216530" cy="216530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6995160" y="41056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450" dirty="0"/>
          </a:p>
        </p:txBody>
      </p:sp>
      <p:sp>
        <p:nvSpPr>
          <p:cNvPr id="50" name="Shape 34"/>
          <p:cNvSpPr/>
          <p:nvPr/>
        </p:nvSpPr>
        <p:spPr>
          <a:xfrm>
            <a:off x="6583680" y="45262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1" name="Image 14" descr="/home/claude/ciq/icons/sync_0EA5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19" y="4564319"/>
            <a:ext cx="216530" cy="216530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6995160" y="447141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Enterprise-scale deployment</a:t>
            </a:r>
            <a:endParaRPr lang="en-US" sz="1450" dirty="0"/>
          </a:p>
        </p:txBody>
      </p:sp>
      <p:sp>
        <p:nvSpPr>
          <p:cNvPr id="53" name="Text 36"/>
          <p:cNvSpPr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Construction Data to Intelligent Decisions”</a:t>
            </a:r>
            <a:endParaRPr lang="en-US" sz="2000" dirty="0"/>
          </a:p>
        </p:txBody>
      </p:sp>
      <p:sp>
        <p:nvSpPr>
          <p:cNvPr id="55" name="Text 38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22164D-50F5-1333-744C-B16CF6582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23A816-601B-8706-6820-891724F881E9}"/>
              </a:ext>
            </a:extLst>
          </p:cNvPr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6C979C-5CB2-14F4-E8F5-07B67B886B1D}"/>
              </a:ext>
            </a:extLst>
          </p:cNvPr>
          <p:cNvSpPr/>
          <p:nvPr/>
        </p:nvSpPr>
        <p:spPr>
          <a:xfrm>
            <a:off x="10607040" y="-457200"/>
            <a:ext cx="2194560" cy="2194560"/>
          </a:xfrm>
          <a:prstGeom prst="ellipse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C5B43E-45B8-E7CE-E747-A1E822C3B824}"/>
              </a:ext>
            </a:extLst>
          </p:cNvPr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4F8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0FD9B5A-AE70-44CE-2F45-3B826FEAF9DB}"/>
              </a:ext>
            </a:extLst>
          </p:cNvPr>
          <p:cNvSpPr/>
          <p:nvPr/>
        </p:nvSpPr>
        <p:spPr>
          <a:xfrm>
            <a:off x="4907280" y="3750421"/>
            <a:ext cx="2377440" cy="4114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ABBCB82-CD46-3FB6-03B0-698A4D79F252}"/>
              </a:ext>
            </a:extLst>
          </p:cNvPr>
          <p:cNvSpPr/>
          <p:nvPr/>
        </p:nvSpPr>
        <p:spPr>
          <a:xfrm>
            <a:off x="9464040" y="4709160"/>
            <a:ext cx="1737360" cy="1737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/home/claude/ciq/icons/building_FFFFFF.png">
            <a:extLst>
              <a:ext uri="{FF2B5EF4-FFF2-40B4-BE49-F238E27FC236}">
                <a16:creationId xmlns:a16="http://schemas.microsoft.com/office/drawing/2014/main" id="{0018460E-8705-B344-AB38-FC4C5C1FD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897" y="4935017"/>
            <a:ext cx="1285646" cy="1285646"/>
          </a:xfrm>
          <a:prstGeom prst="rect">
            <a:avLst/>
          </a:prstGeom>
        </p:spPr>
      </p:pic>
      <p:sp>
        <p:nvSpPr>
          <p:cNvPr id="15" name="Shape 12">
            <a:extLst>
              <a:ext uri="{FF2B5EF4-FFF2-40B4-BE49-F238E27FC236}">
                <a16:creationId xmlns:a16="http://schemas.microsoft.com/office/drawing/2014/main" id="{4776FD56-6398-2633-A279-9DE48CFDEF54}"/>
              </a:ext>
            </a:extLst>
          </p:cNvPr>
          <p:cNvSpPr/>
          <p:nvPr/>
        </p:nvSpPr>
        <p:spPr>
          <a:xfrm>
            <a:off x="10561320" y="5349240"/>
            <a:ext cx="1051560" cy="10515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/home/claude/ciq/icons/robot_FFFFFF.png">
            <a:extLst>
              <a:ext uri="{FF2B5EF4-FFF2-40B4-BE49-F238E27FC236}">
                <a16:creationId xmlns:a16="http://schemas.microsoft.com/office/drawing/2014/main" id="{572D43EC-5910-387D-D095-9D9089216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023" y="5485943"/>
            <a:ext cx="778154" cy="778154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CBED3438-0177-DB55-C1E6-B54AE2D99A9F}"/>
              </a:ext>
            </a:extLst>
          </p:cNvPr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6451887-20BC-1C17-51EF-AE3126C42731}"/>
              </a:ext>
            </a:extLst>
          </p:cNvPr>
          <p:cNvSpPr/>
          <p:nvPr/>
        </p:nvSpPr>
        <p:spPr>
          <a:xfrm>
            <a:off x="4228064" y="2561701"/>
            <a:ext cx="3735871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414902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599</Words>
  <Application>Microsoft Office PowerPoint</Application>
  <PresentationFormat>Widescreen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Lakshana G S</cp:lastModifiedBy>
  <cp:revision>8</cp:revision>
  <dcterms:created xsi:type="dcterms:W3CDTF">2026-08-09T15:56:41Z</dcterms:created>
  <dcterms:modified xsi:type="dcterms:W3CDTF">2026-08-18T15:45:29Z</dcterms:modified>
</cp:coreProperties>
</file>